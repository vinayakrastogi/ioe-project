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in the four Reg No - Name entries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in one sentence, then the goal. Keep it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dashboards: one for users, one (Monitor) that shows how the system works. Admin is an operator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MQTT broker is what decouples hardware from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no real hardware, but the messages are real MQTT, so the backend cannot tell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table with quantities and wiring notes is in the documentation, section 4.3.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booked-but-empty slot is expected to look empty to the sensor, so the backend keeps it BOOKED until the car arrives.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Entry and exit use the same QR. The first scan is entry, the next scan is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QR is signed, not encrypted. The scanner ignores the same code for 12 seconds so a lingering QR does not toggle entry into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has capacity, occupancy and timestamp per car park. We derive percentage occupancy and a next-reading threshold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Chronological split so the test set is genuinely future data. The rolling average dominates: recent occupancy is the strongest predictor of near-term occupancy.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halves the error of the linear baseline. Limitation: the model learned from large lots; retrain.py adapts it to our 20-slot lot using our own logs. The LSTM in the notebook was not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from one docker compose command. The cloud items are the proposed deployment, not deployed.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 of the dashboard with a mix of free, booked and occupied slots.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3D scene and the log side by side; both are driven by the same live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kiosk works from a phone on the same network by opening the laptop's IP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mapping: Mosquitto to IoT Core, Postgres to RDS, backend container to Fargate, in-process WebSocket fan-out to Redis. Secrets move to Secrets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Latency numbers are local loopback figures, so they show the server work is small, not real-network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are the most instructive: both are interactions between independent parts (simulator vs booking, camera vs scan logic).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what is simulated and what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1887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Allocation System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450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IoE project  |  QR gate access  |  ML peak alerts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3063240"/>
            <a:ext cx="4754880" cy="1600200"/>
          </a:xfrm>
          <a:prstGeom prst="roundRect">
            <a:avLst>
              <a:gd name="adj" fmla="val 5714"/>
            </a:avLst>
          </a:prstGeom>
          <a:solidFill>
            <a:srgbClr val="111B30"/>
          </a:solidFill>
          <a:ln w="9525">
            <a:solidFill>
              <a:srgbClr val="22304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172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4564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 - Name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749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 - Name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0416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 - Name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3342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 - Name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577840" y="114300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88152" y="123444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577840" y="1417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114300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FACC1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28232" y="1234440"/>
            <a:ext cx="128016" cy="128016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0" y="1417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58000" y="114300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068312" y="123444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58000" y="1417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498080" y="114300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08392" y="123444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498080" y="1417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138160" y="114300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48472" y="123444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38160" y="1417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577840" y="178308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88152" y="187452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577840" y="20574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217920" y="178308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28232" y="187452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217920" y="20574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858000" y="178308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068312" y="187452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858000" y="20574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498080" y="178308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708392" y="187452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498080" y="20574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138160" y="178308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FACC1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348472" y="1874520"/>
            <a:ext cx="128016" cy="128016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8138160" y="20574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577840" y="242316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788152" y="251460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577840" y="26974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217920" y="242316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428232" y="251460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6217920" y="26974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858000" y="242316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068312" y="251460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6858000" y="26974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7498080" y="242316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708392" y="251460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7498080" y="26974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138160" y="242316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348472" y="251460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8138160" y="26974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5577840" y="306324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788152" y="315468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577840" y="33375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6217920" y="306324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428232" y="315468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6217920" y="33375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6858000" y="306324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068312" y="315468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6858000" y="33375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7498080" y="306324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7708392" y="315468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7498080" y="33375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138160" y="306324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11B30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348472" y="315468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8138160" y="33375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5577840" y="3977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slot map: free / booked / occupied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goal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201168" cy="20116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80160" y="1993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circle the lot hunting for a free spot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31520" y="2834640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80160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Attendants check tickets and lift barriers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731520" y="3657600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4904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0160" y="36393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warning before the lot fills up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663440" y="123444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493776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4937760" y="2011680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03120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86400" y="1993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specific slot in advance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937760" y="2834640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926080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6400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QR entry and exit, no attendant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4937760" y="3657600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749040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486400" y="36393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occupancy plus ML peak alerts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ParkGrid does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capabilities, two dashboards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481328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7276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8580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Pre-book a slot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423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slot and time; get a signed QR code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578608" y="128016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807208" y="1481328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1572768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807208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booking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2807208" y="2423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kiosk, no account, nearest free slot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700016" y="128016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28616" y="1481328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1572768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928616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gate access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4928616" y="2423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enter and exit; gate opens by itself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821424" y="128016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050024" y="1481328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4" y="1572768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050024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peak alerts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7050024" y="2423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when the lot will cross 85%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57200" y="342900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E6F3FB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73152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73152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QR, history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342900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342900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lot + live activity log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612648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612648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slots for demo resets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is simulated; everything downstream is real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188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(simulated)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4630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simulator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HC-SR04 x20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4688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simulator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boom gate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1463040"/>
            <a:ext cx="1097280" cy="1691640"/>
          </a:xfrm>
          <a:prstGeom prst="roundRect">
            <a:avLst>
              <a:gd name="adj" fmla="val 6667"/>
            </a:avLst>
          </a:prstGeom>
          <a:solidFill>
            <a:srgbClr val="6366F1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06040" y="1463040"/>
            <a:ext cx="1097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(Mosquitto)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11887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0" y="1417320"/>
            <a:ext cx="2194560" cy="1920240"/>
          </a:xfrm>
          <a:prstGeom prst="roundRect">
            <a:avLst>
              <a:gd name="adj" fmla="val 4762"/>
            </a:avLst>
          </a:prstGeom>
          <a:solidFill>
            <a:srgbClr val="E6F3F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1536192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worker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1975104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51960" y="19751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JWT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51960" y="2414016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51960" y="24140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hub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2852928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51960" y="28529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37033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1480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1188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1463040"/>
            <a:ext cx="1965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20840" y="1463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20840" y="1920240"/>
            <a:ext cx="1965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20840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(3D + logs)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20840" y="2377440"/>
            <a:ext cx="1965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2084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20840" y="2834640"/>
            <a:ext cx="1965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20840" y="2834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kiosk / Gate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94560" y="1801368"/>
            <a:ext cx="41148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>
            <a:off x="2194560" y="2807208"/>
            <a:ext cx="41148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703320" y="2331720"/>
            <a:ext cx="411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212080" y="3337560"/>
            <a:ext cx="0" cy="365760"/>
          </a:xfrm>
          <a:prstGeom prst="line">
            <a:avLst/>
          </a:prstGeom>
          <a:noFill/>
          <a:ln w="19050">
            <a:solidFill>
              <a:srgbClr val="0B122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309360" y="2148840"/>
            <a:ext cx="41148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57200" y="352044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40080" y="3611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38587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only sees MQTT messages, so real ESP32 devices can replace the simulators with no backend change.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IoT layer is simulated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Python programs publish real MQTT messages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201168" cy="20116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4300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simulator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184708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HC-SR04 for each of 20 slots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clock at 60x speed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curve: about 3% at night up to 92% at noon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distance + 30 cm occupied threshold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10896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37560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4300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simulator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85800" y="3703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boom sweep 0 to 90 degrees and back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open command, sends acknowledgement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event log, like device serial output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70916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topics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600200"/>
          <a:ext cx="39776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09728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parking/sensor/{n}/status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to 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distance_cm, occupied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parking/gate/command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to 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open, entry or exit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parking/gate/ack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to 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6"/>
          <p:cNvSpPr/>
          <p:nvPr/>
        </p:nvSpPr>
        <p:spPr>
          <a:xfrm>
            <a:off x="4709160" y="3383280"/>
            <a:ext cx="3977640" cy="1005840"/>
          </a:xfrm>
          <a:prstGeom prst="roundRect">
            <a:avLst>
              <a:gd name="adj" fmla="val 9091"/>
            </a:avLst>
          </a:prstGeom>
          <a:solidFill>
            <a:srgbClr val="E6F3FB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4892040" y="34747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4892040" y="373075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Gate-controlled slots are held occupied so the random simulation never overwrites a real gate scan.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components for a real deployment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that would replace the simulators (12 components)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19385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389888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132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69848" y="1344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8379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MCU, one per 4 slots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32888" y="1234440"/>
            <a:ext cx="19385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70048" y="1389888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1481328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145536" y="1344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/ Nano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670048" y="18379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sensor-node option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608576" y="1234440"/>
            <a:ext cx="19385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745736" y="1389888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1481328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221224" y="1344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745736" y="18379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gateway, camera, broker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684264" y="1234440"/>
            <a:ext cx="19385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21424" y="1389888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1481328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296912" y="1344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6821424" y="18379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occupancy, x20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57200" y="2331720"/>
            <a:ext cx="19385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94360" y="2487168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578608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069848" y="24414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obstacle sensor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594360" y="29352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at gate lane, x2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2532888" y="2331720"/>
            <a:ext cx="19385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2670048" y="2487168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1488" y="2578608"/>
            <a:ext cx="201168" cy="20116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3145536" y="24414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/ R-G-Y LEDs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2670048" y="29352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Per-slot status, x20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4608576" y="2331720"/>
            <a:ext cx="19385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4745736" y="2487168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7176" y="2578608"/>
            <a:ext cx="201168" cy="201168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5221224" y="24414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SG90 / MG996R servo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4745736" y="29352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 barrier motor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6684264" y="2331720"/>
            <a:ext cx="19385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6821424" y="2487168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2864" y="2578608"/>
            <a:ext cx="201168" cy="201168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7296912" y="24414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Camera / webcam</a:t>
            </a:r>
            <a:endParaRPr lang="en-US" sz="1200" dirty="0"/>
          </a:p>
        </p:txBody>
      </p:sp>
      <p:sp>
        <p:nvSpPr>
          <p:cNvPr id="48" name="Text 38"/>
          <p:cNvSpPr txBox="1"/>
          <p:nvPr/>
        </p:nvSpPr>
        <p:spPr>
          <a:xfrm>
            <a:off x="6821424" y="29352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QR at the gate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457200" y="3429000"/>
            <a:ext cx="19385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594360" y="3584448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675888"/>
            <a:ext cx="201168" cy="201168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1069848" y="35387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/ 16x2 LCD</a:t>
            </a:r>
            <a:endParaRPr lang="en-US" sz="1200" dirty="0"/>
          </a:p>
        </p:txBody>
      </p:sp>
      <p:sp>
        <p:nvSpPr>
          <p:cNvPr id="53" name="Text 42"/>
          <p:cNvSpPr txBox="1"/>
          <p:nvPr/>
        </p:nvSpPr>
        <p:spPr>
          <a:xfrm>
            <a:off x="594360" y="40325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message display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2532888" y="3429000"/>
            <a:ext cx="19385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2670048" y="3584448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61488" y="3675888"/>
            <a:ext cx="201168" cy="201168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3145536" y="35387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buzzer</a:t>
            </a:r>
            <a:endParaRPr lang="en-US" sz="1200" dirty="0"/>
          </a:p>
        </p:txBody>
      </p:sp>
      <p:sp>
        <p:nvSpPr>
          <p:cNvPr id="58" name="Text 46"/>
          <p:cNvSpPr txBox="1"/>
          <p:nvPr/>
        </p:nvSpPr>
        <p:spPr>
          <a:xfrm>
            <a:off x="2670048" y="40325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 tone</a:t>
            </a:r>
            <a:endParaRPr lang="en-US" sz="1000" dirty="0"/>
          </a:p>
        </p:txBody>
      </p:sp>
      <p:sp>
        <p:nvSpPr>
          <p:cNvPr id="59" name="Shape 47"/>
          <p:cNvSpPr/>
          <p:nvPr/>
        </p:nvSpPr>
        <p:spPr>
          <a:xfrm>
            <a:off x="4608576" y="3429000"/>
            <a:ext cx="19385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0" name="Shape 48"/>
          <p:cNvSpPr/>
          <p:nvPr/>
        </p:nvSpPr>
        <p:spPr>
          <a:xfrm>
            <a:off x="4745736" y="3584448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37176" y="3675888"/>
            <a:ext cx="201168" cy="201168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5221224" y="35387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 relay module</a:t>
            </a:r>
            <a:endParaRPr lang="en-US" sz="1200" dirty="0"/>
          </a:p>
        </p:txBody>
      </p:sp>
      <p:sp>
        <p:nvSpPr>
          <p:cNvPr id="63" name="Text 50"/>
          <p:cNvSpPr txBox="1"/>
          <p:nvPr/>
        </p:nvSpPr>
        <p:spPr>
          <a:xfrm>
            <a:off x="4745736" y="40325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barrier power</a:t>
            </a:r>
            <a:endParaRPr lang="en-US" sz="1000" dirty="0"/>
          </a:p>
        </p:txBody>
      </p:sp>
      <p:sp>
        <p:nvSpPr>
          <p:cNvPr id="64" name="Shape 51"/>
          <p:cNvSpPr/>
          <p:nvPr/>
        </p:nvSpPr>
        <p:spPr>
          <a:xfrm>
            <a:off x="6684264" y="3429000"/>
            <a:ext cx="19385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5" name="Shape 52"/>
          <p:cNvSpPr/>
          <p:nvPr/>
        </p:nvSpPr>
        <p:spPr>
          <a:xfrm>
            <a:off x="6821424" y="3584448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2864" y="3675888"/>
            <a:ext cx="201168" cy="201168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7296912" y="35387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 + buck converter</a:t>
            </a:r>
            <a:endParaRPr lang="en-US" sz="1200" dirty="0"/>
          </a:p>
        </p:txBody>
      </p:sp>
      <p:sp>
        <p:nvSpPr>
          <p:cNvPr id="68" name="Text 54"/>
          <p:cNvSpPr txBox="1"/>
          <p:nvPr/>
        </p:nvSpPr>
        <p:spPr>
          <a:xfrm>
            <a:off x="6821424" y="40325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 / 12 V power rails</a:t>
            </a:r>
            <a:endParaRPr lang="en-US" sz="1000" dirty="0"/>
          </a:p>
        </p:txBody>
      </p:sp>
      <p:sp>
        <p:nvSpPr>
          <p:cNvPr id="69" name="Text 55"/>
          <p:cNvSpPr txBox="1"/>
          <p:nvPr/>
        </p:nvSpPr>
        <p:spPr>
          <a:xfrm>
            <a:off x="457200" y="459028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220 ohm resistors, logic-level shifter (5 V echo to 3.3 V), Wi-Fi router, enclosures and cabling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sensor to LED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slot's state is decided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463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508760"/>
            <a:ext cx="310896" cy="3108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2402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distance to the car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20240" y="2103120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21408" y="1371600"/>
            <a:ext cx="1463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58568" y="1508760"/>
            <a:ext cx="310896" cy="3108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258568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258568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258568" y="22402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&lt; 30 cm means occupied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84448" y="2103120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85616" y="1371600"/>
            <a:ext cx="1463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22776" y="1508760"/>
            <a:ext cx="310896" cy="3108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922776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922776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922776" y="22402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status message, QoS 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48656" y="2103120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49824" y="1371600"/>
            <a:ext cx="1463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86984" y="1508760"/>
            <a:ext cx="310896" cy="3108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586984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586984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586984" y="22402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state rules, saves to DB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12864" y="2103120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114032" y="1371600"/>
            <a:ext cx="1463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51192" y="1508760"/>
            <a:ext cx="310896" cy="3108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251192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251192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+ UI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251192" y="22402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colour updates live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colours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7200" y="34747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5800" y="370332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37160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1371600" y="4005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46120" y="34747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474720" y="3703320"/>
            <a:ext cx="502920" cy="50292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16052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4160520" y="4005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+ green mix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035040" y="34747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63640" y="370332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94944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6949440" y="4005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 booking to exit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QR code opens the gate twice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60120" y="128016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37160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084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Pre-book or guest kiosk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417320" y="1472184"/>
            <a:ext cx="731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624328" y="1280160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371600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121408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QR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2121408" y="2084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token on phone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081528" y="1472184"/>
            <a:ext cx="731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4288536" y="1280160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137160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785616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3785616" y="2084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camera reads QR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45736" y="1472184"/>
            <a:ext cx="731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5952744" y="128016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1371600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449824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5449824" y="2084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+ booking state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409944" y="1472184"/>
            <a:ext cx="731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7616952" y="1280160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2" y="1371600"/>
            <a:ext cx="201168" cy="20116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14032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opens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7114032" y="2084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turns red, event logged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state machine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640080" y="324612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64008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2011680" y="3520440"/>
            <a:ext cx="7772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Text 30"/>
          <p:cNvSpPr txBox="1"/>
          <p:nvPr/>
        </p:nvSpPr>
        <p:spPr>
          <a:xfrm>
            <a:off x="2011680" y="3200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created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2788920" y="324612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ACC15"/>
          </a:solidFill>
          <a:ln w="6350">
            <a:solidFill>
              <a:srgbClr val="FACC15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278892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</a:t>
            </a:r>
            <a:endParaRPr lang="en-US" sz="1400" dirty="0"/>
          </a:p>
        </p:txBody>
      </p:sp>
      <p:sp>
        <p:nvSpPr>
          <p:cNvPr id="40" name="Shape 33"/>
          <p:cNvSpPr/>
          <p:nvPr/>
        </p:nvSpPr>
        <p:spPr>
          <a:xfrm>
            <a:off x="4160520" y="3520440"/>
            <a:ext cx="7772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1" name="Text 34"/>
          <p:cNvSpPr txBox="1"/>
          <p:nvPr/>
        </p:nvSpPr>
        <p:spPr>
          <a:xfrm>
            <a:off x="4160520" y="3200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scan: entry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4937760" y="324612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493776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</a:t>
            </a:r>
            <a:endParaRPr lang="en-US" sz="1400" dirty="0"/>
          </a:p>
        </p:txBody>
      </p:sp>
      <p:sp>
        <p:nvSpPr>
          <p:cNvPr id="44" name="Shape 37"/>
          <p:cNvSpPr/>
          <p:nvPr/>
        </p:nvSpPr>
        <p:spPr>
          <a:xfrm>
            <a:off x="6309360" y="3520440"/>
            <a:ext cx="7772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5" name="Text 38"/>
          <p:cNvSpPr txBox="1"/>
          <p:nvPr/>
        </p:nvSpPr>
        <p:spPr>
          <a:xfrm>
            <a:off x="6309360" y="3200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again: exit</a:t>
            </a:r>
            <a:endParaRPr lang="en-US" sz="800" dirty="0"/>
          </a:p>
        </p:txBody>
      </p:sp>
      <p:sp>
        <p:nvSpPr>
          <p:cNvPr id="46" name="Shape 39"/>
          <p:cNvSpPr/>
          <p:nvPr/>
        </p:nvSpPr>
        <p:spPr>
          <a:xfrm>
            <a:off x="7086600" y="324612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708660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48" name="Text 41"/>
          <p:cNvSpPr txBox="1"/>
          <p:nvPr/>
        </p:nvSpPr>
        <p:spPr>
          <a:xfrm>
            <a:off x="640080" y="4114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free any slot; unused bookings expire when their window ends.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and gate validation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tokens, checked on the server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1344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anatomy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7373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booking_id, slot_id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17373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743200" y="17373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43200" y="1737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signature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(secret key)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377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eyJib29raW5nX2lkIjoxNH0.zK3...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E6F3FB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0080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safe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310128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a booking id fails: signature mismatch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must equal the one stored for the booking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comes from booking status and time window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at POST /gate/scan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92040" y="1600200"/>
            <a:ext cx="37947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1719072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810512"/>
            <a:ext cx="201168" cy="20116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532120" y="16550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valid?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532120" y="192938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400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892040" y="2331720"/>
            <a:ext cx="37947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029200" y="2450592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542032"/>
            <a:ext cx="201168" cy="201168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5532120" y="238658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found, token matches?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5532120" y="266090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404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892040" y="3063240"/>
            <a:ext cx="37947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5029200" y="3182112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273552"/>
            <a:ext cx="201168" cy="201168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5532120" y="311810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completed, cancelled, expired?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5532120" y="339242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409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4892040" y="3794760"/>
            <a:ext cx="37947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5029200" y="3913632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4005072"/>
            <a:ext cx="201168" cy="201168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5532120" y="38496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Pending: entry.  Active: exit.</a:t>
            </a:r>
            <a:endParaRPr lang="en-US" sz="1200" dirty="0"/>
          </a:p>
        </p:txBody>
      </p:sp>
      <p:sp>
        <p:nvSpPr>
          <p:cNvPr id="40" name="Text 34"/>
          <p:cNvSpPr txBox="1"/>
          <p:nvPr/>
        </p:nvSpPr>
        <p:spPr>
          <a:xfrm>
            <a:off x="5532120" y="412394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command sent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4892040" y="45262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re-reads are ignored for 12 s so one QR is not scanned twice by accident.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data and target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Parking Birmingham dataset (id 482)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" y="1417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35,717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78608" y="128016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578608" y="1417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2578608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parks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0016" y="128016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00016" y="1417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4700016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weeks, Oct-Dec 2016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21424" y="128016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21424" y="1417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6821424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interval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predicts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337560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14300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percentage of the lot (0-100%) at a given hour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663440" y="31089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846320" y="324612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337560"/>
            <a:ext cx="201168" cy="201168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534924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489204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next reading reach 85% or more? Drives the peak alert banner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 pipeline and factors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0B1220"/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188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1527048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847088" y="118872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47088" y="1188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27248" y="1527048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36976" y="118872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0B1220"/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36976" y="1188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 split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17136" y="1527048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26864" y="118872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26864" y="1188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 + classifier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07024" y="1527048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16752" y="118872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0B1220"/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16752" y="1188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models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96912" y="1527048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06640" y="118872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06640" y="1188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/predictions/peak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used (features)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24505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606040" y="24505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28529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day_of_week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606040" y="28529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pattern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2552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is_weekend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606040" y="32552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flag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6576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capacity_ratio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606040" y="36576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size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0599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rolling_avg_occupancy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2606040" y="40599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last 3 readings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754880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754880" y="25146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avg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35040" y="2551176"/>
            <a:ext cx="1965960" cy="237744"/>
          </a:xfrm>
          <a:prstGeom prst="roundRect">
            <a:avLst>
              <a:gd name="adj" fmla="val 15385"/>
            </a:avLst>
          </a:prstGeom>
          <a:solidFill>
            <a:srgbClr val="0EA5E9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074152" y="251460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78.7%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754880" y="291693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35040" y="2953512"/>
            <a:ext cx="427165" cy="237744"/>
          </a:xfrm>
          <a:prstGeom prst="roundRect">
            <a:avLst>
              <a:gd name="adj" fmla="val 15385"/>
            </a:avLst>
          </a:prstGeom>
          <a:solidFill>
            <a:srgbClr val="7DD3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535357" y="29169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17.1%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754880" y="33192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ratio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035040" y="3355848"/>
            <a:ext cx="74941" cy="237744"/>
          </a:xfrm>
          <a:prstGeom prst="roundRect">
            <a:avLst>
              <a:gd name="adj" fmla="val 48806"/>
            </a:avLst>
          </a:prstGeom>
          <a:solidFill>
            <a:srgbClr val="7DD3F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183133" y="33192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4754880" y="37216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035040" y="3758184"/>
            <a:ext cx="45720" cy="237744"/>
          </a:xfrm>
          <a:prstGeom prst="roundRect">
            <a:avLst>
              <a:gd name="adj" fmla="val 80000"/>
            </a:avLst>
          </a:prstGeom>
          <a:solidFill>
            <a:srgbClr val="7DD3FC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153912" y="372160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0.9%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4754880" y="412394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weekend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035040" y="4160520"/>
            <a:ext cx="45720" cy="237744"/>
          </a:xfrm>
          <a:prstGeom prst="roundRect">
            <a:avLst>
              <a:gd name="adj" fmla="val 80000"/>
            </a:avLst>
          </a:prstGeom>
          <a:solidFill>
            <a:srgbClr val="7DD3FC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153912" y="41239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results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later period (5-19 Dec 2016), 7,142 readings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188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lower is better (occupancy 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402336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057400"/>
            <a:ext cx="685800" cy="2103120"/>
          </a:xfrm>
          <a:prstGeom prst="roundRect">
            <a:avLst>
              <a:gd name="adj" fmla="val 6667"/>
            </a:avLst>
          </a:prstGeom>
          <a:solidFill>
            <a:srgbClr val="0EA5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17830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37360" y="2700412"/>
            <a:ext cx="685800" cy="1460108"/>
          </a:xfrm>
          <a:prstGeom prst="roundRect">
            <a:avLst>
              <a:gd name="adj" fmla="val 6667"/>
            </a:avLst>
          </a:prstGeom>
          <a:solidFill>
            <a:srgbClr val="14B8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737360" y="242609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233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71800" y="3183455"/>
            <a:ext cx="685800" cy="977065"/>
          </a:xfrm>
          <a:prstGeom prst="roundRect">
            <a:avLst>
              <a:gd name="adj" fmla="val 6667"/>
            </a:avLst>
          </a:prstGeom>
          <a:solidFill>
            <a:srgbClr val="0EA5E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971800" y="290913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49040" y="3578672"/>
            <a:ext cx="685800" cy="581848"/>
          </a:xfrm>
          <a:prstGeom prst="roundRect">
            <a:avLst>
              <a:gd name="adj" fmla="val 7858"/>
            </a:avLst>
          </a:prstGeom>
          <a:solidFill>
            <a:srgbClr val="14B8A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749040" y="330435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4233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463040" y="45720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EA5E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664208" y="45445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45720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4B8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578608" y="45445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1234440"/>
            <a:ext cx="36576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166360" y="134416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0.948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Random Forest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linear model: 0.759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2350008"/>
            <a:ext cx="36576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166360" y="2459736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0.987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25328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ROC-AUC, peak classifier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2852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0.94, F1 0.84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3465576"/>
            <a:ext cx="36576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5166360" y="357530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3400" dirty="0"/>
          </a:p>
        </p:txBody>
      </p:sp>
      <p:sp>
        <p:nvSpPr>
          <p:cNvPr id="35" name="Text 33"/>
          <p:cNvSpPr txBox="1"/>
          <p:nvPr/>
        </p:nvSpPr>
        <p:spPr>
          <a:xfrm>
            <a:off x="6537960" y="36484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peak class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39684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few real peaks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011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4140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 + Alembic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28163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2186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3621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paho-mqtt, WebSockets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4023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pandas, joblib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273552" y="11887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502152" y="1371600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46304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005072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3547872" y="2011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3547872" y="24140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(dark theme)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3547872" y="28163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3547872" y="32186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+ react-three-fiber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3547872" y="3621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qrcode.react, html5-qrcode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3547872" y="4023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Router, Axios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089904" y="11887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318504" y="1371600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463040"/>
            <a:ext cx="201168" cy="20116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821424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6364224" y="2011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</a:t>
            </a:r>
            <a:endParaRPr lang="en-US" sz="1250" dirty="0"/>
          </a:p>
        </p:txBody>
      </p:sp>
      <p:sp>
        <p:nvSpPr>
          <p:cNvPr id="33" name="Text 28"/>
          <p:cNvSpPr txBox="1"/>
          <p:nvPr/>
        </p:nvSpPr>
        <p:spPr>
          <a:xfrm>
            <a:off x="6364224" y="24140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MQTT broker</a:t>
            </a:r>
            <a:endParaRPr lang="en-US" sz="1250" dirty="0"/>
          </a:p>
        </p:txBody>
      </p:sp>
      <p:sp>
        <p:nvSpPr>
          <p:cNvPr id="34" name="Text 29"/>
          <p:cNvSpPr txBox="1"/>
          <p:nvPr/>
        </p:nvSpPr>
        <p:spPr>
          <a:xfrm>
            <a:off x="6364224" y="28163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services, one command</a:t>
            </a:r>
            <a:endParaRPr lang="en-US" sz="1250" dirty="0"/>
          </a:p>
        </p:txBody>
      </p:sp>
      <p:sp>
        <p:nvSpPr>
          <p:cNvPr id="35" name="Text 30"/>
          <p:cNvSpPr txBox="1"/>
          <p:nvPr/>
        </p:nvSpPr>
        <p:spPr>
          <a:xfrm>
            <a:off x="6364224" y="32186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 AWS IoT Core,</a:t>
            </a:r>
            <a:endParaRPr lang="en-US" sz="1250" dirty="0"/>
          </a:p>
        </p:txBody>
      </p:sp>
      <p:sp>
        <p:nvSpPr>
          <p:cNvPr id="36" name="Text 31"/>
          <p:cNvSpPr txBox="1"/>
          <p:nvPr/>
        </p:nvSpPr>
        <p:spPr>
          <a:xfrm>
            <a:off x="6364224" y="3621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Fargate, RDS, S3,</a:t>
            </a:r>
            <a:endParaRPr lang="en-US" sz="1250" dirty="0"/>
          </a:p>
        </p:txBody>
      </p:sp>
      <p:sp>
        <p:nvSpPr>
          <p:cNvPr id="37" name="Text 32"/>
          <p:cNvSpPr txBox="1"/>
          <p:nvPr/>
        </p:nvSpPr>
        <p:spPr>
          <a:xfrm>
            <a:off x="6364224" y="4023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CloudFront, ElastiCache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slot map, ML alert and booking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577840" cy="3483864"/>
          </a:xfrm>
          <a:prstGeom prst="roundRect">
            <a:avLst>
              <a:gd name="adj" fmla="val 2100"/>
            </a:avLst>
          </a:prstGeom>
          <a:solidFill>
            <a:srgbClr val="0B1220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/Users/vinayakrastogi/Vinayak/Developer/ioe/docs/screenshots/01-user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5486400" cy="3429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309360" y="1280160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12280" y="12435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slot map over WebSocket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09360" y="214884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4028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12280" y="211226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free, yellow booked, red occupied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309360" y="301752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10896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12280" y="298094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 forecast and peak alert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309360" y="3886200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977640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812280" y="384962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free slot to book it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control room and live activity log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4023360" cy="2611302"/>
          </a:xfrm>
          <a:prstGeom prst="roundRect">
            <a:avLst>
              <a:gd name="adj" fmla="val 2801"/>
            </a:avLst>
          </a:prstGeom>
          <a:solidFill>
            <a:srgbClr val="0B1220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/Users/vinayakrastogi/Vinayak/Developer/ioe/docs/screenshots/02b-monitor-3d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3931920" cy="246259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390975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view: LED per slot, parked cars, animated gate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0B1220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/Users/vinayakrastogi/Vinayak/Developer/ioe/docs/screenshots/03-monitor-l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34440"/>
            <a:ext cx="3931920" cy="245745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63440" y="3904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Logs: bookings, gate actions, hardware acknowledgements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 booking QR to the webcam: the boom lifts and a car drives to its slot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reads as a sentence, not raw telemetry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and guest kiosk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resets and walk-in booking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0B1220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/Users/vinayakrastogi/Vinayak/Developer/ioe/docs/screenshots/04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3931920" cy="245745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3904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free one slot or all, with occupant details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0B1220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/Users/vinayakrastogi/Vinayak/Developer/ioe/docs/screenshots/07-guest-qr-ti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34440"/>
            <a:ext cx="3931920" cy="245745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63440" y="3904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kiosk: booking ticket with signed QR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is protected by a shared token; freeing a slot also closes its booking and logs the action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can open the kiosk over the same Wi-Fi, generate a QR, and the laptop webcam scans it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implementation (proposed)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AWS; not deployed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3716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/ Pi devices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X.509 certificate each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3716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6366F1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77440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over TLS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137160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06240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on ECS Fargate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load balancer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0B1220"/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3716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1709928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40480" y="1709928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43600" y="1709928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377440" y="260604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77440" y="2606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job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06240" y="260604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06240" y="2606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artifacts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260604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2606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Redis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pub/sub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0" y="2898648"/>
            <a:ext cx="36576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5074920" y="2057400"/>
            <a:ext cx="0" cy="54864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852160" y="2057400"/>
            <a:ext cx="548640" cy="54864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7200" y="352044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0B1220"/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5204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S3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static site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352044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83280" y="35204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browsers and phones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WSS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08960" y="3813048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486400" y="3813048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806440" y="3520440"/>
            <a:ext cx="1874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06440" y="35204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+ alarms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2976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move: managed MQTT and per-device certificates, scaling, backups, HTTPS (browsers need it for camera access off localhost)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development laptop (local Docker, median of 8 runs)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" y="13716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ms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booking request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78608" y="128016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578608" y="13716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ms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2670048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scan (entry)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0016" y="128016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00016" y="13716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 ms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4791456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 reaches browser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21424" y="128016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21424" y="13716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0.948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6912864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R² (held-out)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2770632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16352"/>
            <a:ext cx="146304" cy="14630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868680" y="2743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Pre-book, scan, enter, scan again, exit: slot green, yellow, red, green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3154680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0"/>
            <a:ext cx="146304" cy="14630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68680" y="31272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walk-in gets the nearest free slot and a QR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02920" y="3538728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84448"/>
            <a:ext cx="146304" cy="14630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68680" y="351129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Forged, expired or reused QR is rejected with a reason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502920" y="3922776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68496"/>
            <a:ext cx="146304" cy="14630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68680" y="38953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generates the QR; laptop webcam scans it on the same Wi-Fi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502920" y="4306824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52544"/>
            <a:ext cx="146304" cy="14630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68680" y="42793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map, 3D LEDs and activity log always agree (one shared state)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fixes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found while integrating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55448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94360" y="16093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scans undone within seconds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6093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sensor simulation overwrote real bookings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16093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Gate-controlled slots are held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94360" y="23865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stayed green after scanning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23865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re-read the QR; 2nd scan meant exit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3865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 same-code cooldown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94360" y="31638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could not open the app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1638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address hard-coded to localhost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1638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backend host from page host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94360" y="39410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enum errors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39410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created enum twice / used names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39410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enum handling in migration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83880" y="384048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384048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384048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F4F7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0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ParkGrid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1371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hardware built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large lots; retrain on own logs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comparison not run (no TensorFlow)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backend process, shared admin token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held from booking time, no time-window scheduling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92040" y="1371600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63040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40680" y="1371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93776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real ESP32 + HC-SR04 + LED node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accumulated entry logs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with IoT Core and RDS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and dynamic pricing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Licence-plate recognition, mobile app alerts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0972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103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297680" y="3749040"/>
            <a:ext cx="118872" cy="118872"/>
          </a:xfrm>
          <a:prstGeom prst="ellipse">
            <a:avLst/>
          </a:prstGeom>
          <a:solidFill>
            <a:srgbClr val="22C55E"/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80560" y="3749040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0B122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3440" y="3749040"/>
            <a:ext cx="118872" cy="118872"/>
          </a:xfrm>
          <a:prstGeom prst="ellipse">
            <a:avLst/>
          </a:prstGeom>
          <a:solidFill>
            <a:srgbClr val="EF4444"/>
          </a:solidFill>
          <a:ln w="6350">
            <a:solidFill>
              <a:srgbClr val="0B122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ParkGrid - Smart Parking Allocation System</dc:title>
  <dc:subject>PptxGenJS Presentation</dc:subject>
  <dc:creator>ParkGrid team</dc:creator>
  <cp:lastModifiedBy>ParkGrid team</cp:lastModifiedBy>
  <cp:revision>1</cp:revision>
  <dcterms:created xsi:type="dcterms:W3CDTF">2026-09-23T16:39:38Z</dcterms:created>
  <dcterms:modified xsi:type="dcterms:W3CDTF">2026-09-23T16:39:38Z</dcterms:modified>
</cp:coreProperties>
</file>